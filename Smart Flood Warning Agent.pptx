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149375"/>
            <a:ext cx="2819400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2999" y="2673250"/>
            <a:ext cx="8006000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0" i="0" u="none">
                <a:solidFill>
                  <a:srgbClr val="F8FAFC"/>
                </a:solidFill>
                <a:latin typeface="Poppins SemiBold"/>
              </a:rPr>
              <a:t>Smart Flood Warning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460849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An Autonomous Predictive Agent for Real-Time Hydrologic Sensing, Risk Modeling, and Multi-Channel Emergency 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86125" y="4527649"/>
            <a:ext cx="56197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Inter"/>
              </a:rPr>
              <a:t>Course: 02AML204 – Introduction to Artificial Intelligence | Project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40543" y="2395537"/>
            <a:ext cx="7310913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F8FAFC"/>
                </a:solidFill>
                <a:latin typeface="Poppins SemiBold"/>
              </a:rPr>
              <a:t>PEAS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875" y="3776662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Defining Performance, Environment, Actuators, and Sensors for an Intelligent Disaster Mitigation Agent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76500"/>
            <a:ext cx="5372100" cy="2714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76500"/>
            <a:ext cx="5372100" cy="27146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771775"/>
            <a:ext cx="5020627" cy="314325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2D3EE"/>
                </a:solidFill>
                <a:latin typeface="Poppins SemiBold"/>
              </a:rPr>
              <a:t>Performance Measure (P)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18135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Accurate Flood Prediction: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High precision forecasting of crest levels using predictive AI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5285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Early Warning Time: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Maximum advance notice window (up to 72 hrs) before critical overflow.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32435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Low False Alarms: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Noise reduction algorithms to eliminate false evacuation panics.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771775"/>
            <a:ext cx="5020627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22D3EE"/>
                </a:solidFill>
                <a:latin typeface="Poppins SemiBold"/>
              </a:rPr>
              <a:t>Actuators &amp; Sensors (A / 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318135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Actuators (A):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Automated emergency SMS alerts, push mobile app notifications, and high-decibel local sirens.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150" y="3752850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Sensors (S):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Real-time ultrasonic water level sensors, tipping-bucket rainfall gauges, and live weather API feeds.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819400"/>
            <a:ext cx="238125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819400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PEAS Framework Breakdown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790723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Environment &amp; Sensors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3036689"/>
            <a:ext cx="579072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Dynamic Operational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446264"/>
            <a:ext cx="55149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The agent continuously operates across river basins, dam reservoirs, urban runoff channels, and meteorological data streams.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4048125"/>
            <a:ext cx="55149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High-density IoT telemetry nodes capture hydrological fluctuations in real time, serving as the agent's primary perception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0812"/>
            <a:ext cx="3549699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24" y="2690812"/>
            <a:ext cx="3549699" cy="2286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1424" y="2690812"/>
            <a:ext cx="3549699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28937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76637"/>
            <a:ext cx="32271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Water Level Nodes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38587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Ultrasonic and radar sensors measure river stages continuously with sub-centimeter accuracy.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9349" y="2928937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59349" y="3576637"/>
            <a:ext cx="32271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Rainfall Gauges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9349" y="3938587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Smart rain gauges track precipitation intensity and cumulative volume per minute.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9549" y="2928937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99549" y="3576637"/>
            <a:ext cx="322712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oppins SemiBold"/>
              </a:rPr>
              <a:t>Weather API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9549" y="3938587"/>
            <a:ext cx="307344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Ingests satellite precipitation forecasts and upstream dam release schedules via cloud services.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687" y="3052762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3174" y="3052762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4799" y="3052762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IoT Sensor Data Pipeline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66937"/>
            <a:ext cx="537210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166937"/>
            <a:ext cx="56407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LSTM &amp; Neural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576512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 central AI agent uses Long Short-Term Memory (LSTM) recurrent networks trained on historical hydrological time-series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3148012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By evaluating non-linear relationships between upstream rainfall and downstream discharge, the agent forecasts surge levels hours in advance.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719512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 model updates state probabilities dynamically every 60 seconds as fresh IoT sensor packets arrive.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76462"/>
            <a:ext cx="5353050" cy="3314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AI Predictive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295400"/>
            <a:ext cx="11029950" cy="5076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33937"/>
            <a:ext cx="110299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>
                <a:solidFill>
                  <a:srgbClr val="94A3B8"/>
                </a:solidFill>
                <a:latin typeface="Inter"/>
              </a:rPr>
              <a:t>The AI-driven agent significantly outperforms traditional static threshold alerts by eliminating false positives and increasing lead times.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AI vs Threshold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119562"/>
            <a:ext cx="2536775" cy="1238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2509837"/>
            <a:ext cx="2536775" cy="1038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119562"/>
            <a:ext cx="2536775" cy="1238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2509837"/>
            <a:ext cx="2536775" cy="10382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81025" y="3814762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7626" y="4281487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2D3EE"/>
                </a:solidFill>
                <a:latin typeface="Poppins SemiBold"/>
              </a:rPr>
              <a:t>1. Perception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4595812"/>
            <a:ext cx="2212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IoT nodes send continuous telemetry streams to the edge cloud gateway.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635" y="2671762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2D3EE"/>
                </a:solidFill>
                <a:latin typeface="Poppins SemiBold"/>
              </a:rPr>
              <a:t>2. Inference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3958" y="2986087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AI agent evaluates flood probability and severity thresholds.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644" y="4281487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2D3EE"/>
                </a:solidFill>
                <a:latin typeface="Poppins SemiBold"/>
              </a:rPr>
              <a:t>3.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4967" y="4595812"/>
            <a:ext cx="2212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Multi-sensor cross-validation suppresses noise and false triggers.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652" y="2671762"/>
            <a:ext cx="2323571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22D3EE"/>
                </a:solidFill>
                <a:latin typeface="Poppins SemiBold"/>
              </a:rPr>
              <a:t>4. Actuation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975" y="2986087"/>
            <a:ext cx="2212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Inter"/>
              </a:rPr>
              <a:t>Simultaneous dispatch of sirens, SMS alerts, and app notifications.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Real-Time Alert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54162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5171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6179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7188" y="3738562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2469356"/>
          <a:ext cx="11029949" cy="2728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5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4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61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5782"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Risk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Flood Probability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Target Actuators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8BDF8"/>
                          </a:solidFill>
                          <a:latin typeface="Poppins SemiBold"/>
                        </a:rPr>
                        <a:t>Automated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8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22C55E"/>
                          </a:solidFill>
                          <a:latin typeface="Inter SemiBold"/>
                        </a:rPr>
                        <a:t>Low / Advisory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10% – 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Dashboard &amp; Web Portal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Log data; increment sensor polling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78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AB308"/>
                          </a:solidFill>
                          <a:latin typeface="Inter SemiBold"/>
                        </a:rPr>
                        <a:t>Moderate Alert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31% – 60%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Mobile App Notifications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Notify local authorities &amp; emergency teams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578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97316"/>
                          </a:solidFill>
                          <a:latin typeface="Inter SemiBold"/>
                        </a:rPr>
                        <a:t>High Warning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61% –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SMS Alerts + Mobile App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Send targeted evacuation advisories to citizens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5784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F4444"/>
                          </a:solidFill>
                          <a:latin typeface="Inter SemiBold"/>
                        </a:rPr>
                        <a:t>Critical Emergency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&gt; 85%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Sirens + SMS + Broadcast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Inter"/>
                        </a:rPr>
                        <a:t>Sound physical sirens; initiate automated evacuation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3012281"/>
            <a:ext cx="1943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24869" y="3012281"/>
            <a:ext cx="19755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00413" y="3012281"/>
            <a:ext cx="25144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14864" y="3012281"/>
            <a:ext cx="45961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555206"/>
            <a:ext cx="1943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24869" y="3555206"/>
            <a:ext cx="19755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00413" y="3555206"/>
            <a:ext cx="25144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014864" y="3555206"/>
            <a:ext cx="45961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098131"/>
            <a:ext cx="1943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524869" y="4098131"/>
            <a:ext cx="19755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00413" y="4098131"/>
            <a:ext cx="25144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14864" y="4098131"/>
            <a:ext cx="45961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641056"/>
            <a:ext cx="1943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524869" y="4641056"/>
            <a:ext cx="19755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00413" y="4641056"/>
            <a:ext cx="25144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14864" y="4641056"/>
            <a:ext cx="45961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1025" y="5183981"/>
            <a:ext cx="19438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24869" y="5183981"/>
            <a:ext cx="197554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00413" y="5183981"/>
            <a:ext cx="25144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14864" y="5183981"/>
            <a:ext cx="459611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Actuation Protocols 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38362"/>
            <a:ext cx="5372100" cy="1552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833812"/>
            <a:ext cx="5372100" cy="1552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38875" y="2657475"/>
            <a:ext cx="56407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oppins SemiBold"/>
              </a:rPr>
              <a:t>Quantifiable Protection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8875" y="3067050"/>
            <a:ext cx="53721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Lead Time Extension: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Provides up to 6 hours of early warning prior to river stage inundation, giving authorities critical time to evacuate vulnerable zones.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8875" y="3867150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Ultra-Low Latency: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Ingests, processes, and acts upon emergency sensor signals in under 15 seconds across the distributed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4438650"/>
            <a:ext cx="5372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94A3B8"/>
                </a:solidFill>
                <a:latin typeface="Inter"/>
              </a:rPr>
              <a:t>Damage Mitigation: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Estimated 40-50% reduction in property and infrastructure loss during flash flood events.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433637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22D3EE"/>
                </a:solidFill>
                <a:latin typeface="Poppins"/>
              </a:rPr>
              <a:t>6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195637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Medium"/>
              </a:rPr>
              <a:t>Early Warning Lead 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129087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sz="5400" b="1" i="0" u="none">
                <a:solidFill>
                  <a:srgbClr val="22D3EE"/>
                </a:solidFill>
                <a:latin typeface="Poppins"/>
              </a:rPr>
              <a:t>&lt; 15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891087"/>
            <a:ext cx="4781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Inter Medium"/>
              </a:rPr>
              <a:t>Sensor-to-Alert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Performance &amp; Impact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1075" y="3033712"/>
            <a:ext cx="10629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Network Fault Tolerance: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IoT nodes utilize LoRaWAN and cellular backup to ensure connectivity during severe weather and power outages.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1075" y="3433762"/>
            <a:ext cx="10629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Sensor Calibration &amp; Noise: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AI agents apply Kalman filtering to clean noisy water level readings caused by surface waves and debris.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75" y="3833812"/>
            <a:ext cx="10629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Power Constraints: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Solar-powered microcontroller nodes use edge TinyML to reduce cloud transmission frequency and conserve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4233862"/>
            <a:ext cx="106299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Inter"/>
              </a:rPr>
              <a:t>Fail-Safe Mechanism:</a:t>
            </a:r>
            <a:r>
              <a:rPr sz="1200" b="0" i="0" u="none">
                <a:solidFill>
                  <a:srgbClr val="94A3B8"/>
                </a:solidFill>
                <a:latin typeface="Inter"/>
              </a:rPr>
              <a:t> If AI predictive confidence drops below acceptable bounds, fallback rule-based safety logic takes over automatically.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048000"/>
            <a:ext cx="23812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448050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848100"/>
            <a:ext cx="2190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248150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Technical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3067050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025" y="38290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82905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2099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6400" y="3217068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https://www.thincke.com/wp-content/uploads/2024/05/Radar-FMCW-Water-Level-Sensor-for-river-01.jpg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6400" y="3450431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www.thincke.com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8145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3988593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https://aigeo360.com/wp-content/uploads/2026/08/image-10.png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4221956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aigeo360.com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85775"/>
            <a:ext cx="11581447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680</Words>
  <Application>Microsoft Office PowerPoint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Medium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Manthan Soni</cp:lastModifiedBy>
  <cp:revision>2</cp:revision>
  <dcterms:created xsi:type="dcterms:W3CDTF">2013-01-27T09:14:16Z</dcterms:created>
  <dcterms:modified xsi:type="dcterms:W3CDTF">2026-08-30T08:39:33Z</dcterms:modified>
  <cp:category/>
</cp:coreProperties>
</file>